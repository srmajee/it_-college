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86" r:id="rId3"/>
    <p:sldId id="257" r:id="rId4"/>
    <p:sldId id="258" r:id="rId5"/>
    <p:sldId id="259" r:id="rId6"/>
    <p:sldId id="260" r:id="rId7"/>
    <p:sldId id="276" r:id="rId8"/>
    <p:sldId id="262" r:id="rId9"/>
    <p:sldId id="279" r:id="rId10"/>
    <p:sldId id="263" r:id="rId11"/>
    <p:sldId id="264" r:id="rId12"/>
    <p:sldId id="284" r:id="rId13"/>
    <p:sldId id="265" r:id="rId14"/>
    <p:sldId id="287" r:id="rId15"/>
    <p:sldId id="288" r:id="rId16"/>
    <p:sldId id="289" r:id="rId17"/>
    <p:sldId id="266" r:id="rId18"/>
    <p:sldId id="261" r:id="rId19"/>
    <p:sldId id="28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148"/>
    <p:restoredTop sz="96405"/>
  </p:normalViewPr>
  <p:slideViewPr>
    <p:cSldViewPr snapToGrid="0" snapToObjects="1">
      <p:cViewPr varScale="1">
        <p:scale>
          <a:sx n="76" d="100"/>
          <a:sy n="76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2928E-9948-9641-8436-CDF2FFAA9B54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B374B-94B4-2C4A-BCB3-B9A78D69D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9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94352-BC35-844C-963B-F5F20C4B2F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0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eter_T._Kirstein" TargetMode="External"/><Relationship Id="rId13" Type="http://schemas.openxmlformats.org/officeDocument/2006/relationships/hyperlink" Target="https://en.wikipedia.org/wiki/International_Network_Working_Group" TargetMode="External"/><Relationship Id="rId3" Type="http://schemas.openxmlformats.org/officeDocument/2006/relationships/hyperlink" Target="https://en.wikipedia.org/wiki/Computer_network" TargetMode="External"/><Relationship Id="rId7" Type="http://schemas.openxmlformats.org/officeDocument/2006/relationships/hyperlink" Target="https://en.wikipedia.org/wiki/INRIA" TargetMode="External"/><Relationship Id="rId12" Type="http://schemas.openxmlformats.org/officeDocument/2006/relationships/hyperlink" Target="https://en.wikipedia.org/wiki/PARC_Universal_Packet" TargetMode="External"/><Relationship Id="rId2" Type="http://schemas.openxmlformats.org/officeDocument/2006/relationships/hyperlink" Target="https://en.wikipedia.org/wiki/Packet_switching#Packet-switched_network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nternetworking" TargetMode="External"/><Relationship Id="rId11" Type="http://schemas.openxmlformats.org/officeDocument/2006/relationships/hyperlink" Target="https://en.wikipedia.org/wiki/Ethernet" TargetMode="External"/><Relationship Id="rId5" Type="http://schemas.openxmlformats.org/officeDocument/2006/relationships/hyperlink" Target="https://en.wikipedia.org/wiki/Hubert_Zimmermann" TargetMode="External"/><Relationship Id="rId10" Type="http://schemas.openxmlformats.org/officeDocument/2006/relationships/hyperlink" Target="https://en.wikipedia.org/wiki/Robert_Metcalfe" TargetMode="External"/><Relationship Id="rId4" Type="http://schemas.openxmlformats.org/officeDocument/2006/relationships/hyperlink" Target="https://en.wikipedia.org/wiki/Louis_Pouzin" TargetMode="External"/><Relationship Id="rId9" Type="http://schemas.openxmlformats.org/officeDocument/2006/relationships/hyperlink" Target="https://en.wikipedia.org/wiki/University_College_Londo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ternet_protocol_suite" TargetMode="External"/><Relationship Id="rId3" Type="http://schemas.openxmlformats.org/officeDocument/2006/relationships/hyperlink" Target="https://en.wikipedia.org/wiki/Stanford_University" TargetMode="External"/><Relationship Id="rId7" Type="http://schemas.openxmlformats.org/officeDocument/2006/relationships/hyperlink" Target="https://en.wikipedia.org/wiki/Internet_Protocol" TargetMode="External"/><Relationship Id="rId2" Type="http://schemas.openxmlformats.org/officeDocument/2006/relationships/hyperlink" Target="https://en.wikipedia.org/wiki/Vint_Cer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ransmission_Control_Protocol" TargetMode="External"/><Relationship Id="rId5" Type="http://schemas.openxmlformats.org/officeDocument/2006/relationships/hyperlink" Target="https://en.wikipedia.org/wiki/Request_for_Comments" TargetMode="External"/><Relationship Id="rId10" Type="http://schemas.openxmlformats.org/officeDocument/2006/relationships/hyperlink" Target="https://en.wikipedia.org/wiki/Leonard_Kleinrock" TargetMode="External"/><Relationship Id="rId4" Type="http://schemas.openxmlformats.org/officeDocument/2006/relationships/hyperlink" Target="https://en.wikipedia.org/wiki/Internet_Experiment_Note" TargetMode="External"/><Relationship Id="rId9" Type="http://schemas.openxmlformats.org/officeDocument/2006/relationships/hyperlink" Target="https://en.wikipedia.org/wiki/CYCLAD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vemint.com/technology/tech-news/10-technology-trends-that-could-prove-to-be-real-gamechangers-11640020513433.html" TargetMode="External"/><Relationship Id="rId2" Type="http://schemas.openxmlformats.org/officeDocument/2006/relationships/hyperlink" Target="https://www.qualcomm.com/5g/what-is-5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d41586-021-03476-5" TargetMode="External"/><Relationship Id="rId5" Type="http://schemas.openxmlformats.org/officeDocument/2006/relationships/hyperlink" Target="https://www.euromoney.com/learning/blockchain-explained/what-is-blockchain" TargetMode="External"/><Relationship Id="rId4" Type="http://schemas.openxmlformats.org/officeDocument/2006/relationships/hyperlink" Target="https://www.upgrad.com/blog/top-new-trending-technologies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737B-2A8F-594B-8706-449B2F0E0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828801"/>
            <a:ext cx="8915399" cy="1192696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D3820-4228-CA45-AE09-3FE1137DC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094481"/>
            <a:ext cx="8915399" cy="1809182"/>
          </a:xfrm>
        </p:spPr>
        <p:txBody>
          <a:bodyPr/>
          <a:lstStyle/>
          <a:p>
            <a:r>
              <a:rPr lang="en-US" sz="2400" dirty="0" err="1"/>
              <a:t>Sarmistha</a:t>
            </a:r>
            <a:r>
              <a:rPr lang="en-US" sz="2400" dirty="0"/>
              <a:t> </a:t>
            </a:r>
            <a:r>
              <a:rPr lang="en-US" sz="2400" dirty="0" err="1"/>
              <a:t>Neogy</a:t>
            </a:r>
            <a:endParaRPr lang="en-US" sz="2400" dirty="0"/>
          </a:p>
          <a:p>
            <a:r>
              <a:rPr lang="en-US" dirty="0"/>
              <a:t>Professor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Jadavpur University</a:t>
            </a:r>
          </a:p>
        </p:txBody>
      </p:sp>
    </p:spTree>
    <p:extLst>
      <p:ext uri="{BB962C8B-B14F-4D97-AF65-F5344CB8AC3E}">
        <p14:creationId xmlns:p14="http://schemas.microsoft.com/office/powerpoint/2010/main" val="152869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70C0-CAD8-BB42-84E6-F5F697BB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6333"/>
          </a:xfrm>
        </p:spPr>
        <p:txBody>
          <a:bodyPr>
            <a:normAutofit fontScale="90000"/>
          </a:bodyPr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What is the Internet?</a:t>
            </a:r>
            <a:br>
              <a:rPr lang="en-IN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3BA7B-C0A5-4C42-A3F7-C2A04AFC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8312"/>
            <a:ext cx="8915400" cy="400290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  * </a:t>
            </a: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global network of interconnected computer networks.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Enables communication and data sharing worldwide.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Communication is enabled via set of established protocols.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 nutshell: </a:t>
            </a:r>
            <a:r>
              <a:rPr lang="en-IN" sz="22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INTERNET stands for </a:t>
            </a:r>
            <a:r>
              <a:rPr lang="en-IN" sz="2200" b="0" i="0" dirty="0">
                <a:solidFill>
                  <a:srgbClr val="040C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Interconnected Network, which</a:t>
            </a:r>
            <a:r>
              <a:rPr lang="en-IN" sz="22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IN" sz="22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is a network system that connects millions of web servers. And these web servers are serving another few/many networks.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200" dirty="0">
                <a:solidFill>
                  <a:srgbClr val="474747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Thus it is possible to access any information that somebody wants to share.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49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B240-583D-4F48-AFE0-59119FCC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CA0-12B3-2A42-8438-F398C9351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Early Roots (1950s-1960s)</a:t>
            </a:r>
            <a:br>
              <a:rPr lang="en-IN" sz="2000" dirty="0"/>
            </a:br>
            <a:r>
              <a:rPr lang="en-IN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* </a:t>
            </a: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Cold War: Motivated research into robust, decentralized communication.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Key Concepts: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Packet Switching: Breaking data into smaller packets for efficient routing.</a:t>
            </a:r>
            <a:b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ARPANET: Early experimental network funded by the US Department of </a:t>
            </a:r>
            <a:r>
              <a:rPr lang="en-IN" sz="2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Defense</a:t>
            </a:r>
            <a:r>
              <a:rPr lang="en-IN" sz="2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20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6499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History Contd. 1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9100"/>
            <a:ext cx="8915400" cy="4673600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Several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2" tooltip="Packet switc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early packet-switched networks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emerged in the 1970s which researched and provided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Computer net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networking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Louis Pouz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Louis Pouzin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and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Hubert Zimmerman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Hubert Zimmermann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pioneered a simplified end-to-end approach to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6" tooltip="Internetwork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internetworking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at the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 tooltip="INRI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IRIA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 tooltip="Peter T. Kirstei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Peter Kirstein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put internetworking into practice at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9" tooltip="University College Lond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 College London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in 1973.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 tooltip="Robert Metcalf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Bob Metcalfe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developed the theory behind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1" tooltip="Ether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Ethernet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and the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2" tooltip="PARC Universal Pack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PARC Universal Packet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ARPA initiatives and the </a:t>
            </a:r>
            <a:r>
              <a:rPr lang="en-IN" sz="240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3" tooltip="International Network Working Gro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 Network Working Group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developed and refined ideas for internetworking, in which multiple separate networks could be joined into a </a:t>
            </a:r>
            <a:r>
              <a:rPr lang="en-IN" sz="2400" i="1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network of networks</a:t>
            </a:r>
            <a:r>
              <a:rPr lang="en-IN" sz="240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03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369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History Contd. 2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50999"/>
            <a:ext cx="8915400" cy="478366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2" tooltip="Vint Cer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Vint Cerf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now at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Stanford Univers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Stanford University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and Bob Kahn, now at DARPA, published their research on internetworking in 1974. Through the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Internet Experiment No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Experiment Note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series and later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Request for Com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RFCs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this evolved into the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6" tooltip="Transmission Control Protoc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Transmission Control Protocol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(TCP) and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 tooltip="Internet Protoc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Protocol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(IP), two protocols of the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 tooltip="Internet protocol sui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 protocol suite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The design included concepts pioneered in the French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9" tooltip="CYCLAD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CYCLADES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project directed by Louis </a:t>
            </a:r>
            <a:r>
              <a:rPr lang="en-IN" sz="2400" b="0" i="0" dirty="0" err="1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Pouzin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The development of packet switching networks was underpinned by mathematical work in the 1970s by </a:t>
            </a:r>
            <a:r>
              <a:rPr lang="en-IN" sz="2400" b="0" i="0" strike="noStrike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10" tooltip="Leonard Kleinroc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Leonard Kleinrock</a:t>
            </a:r>
            <a:r>
              <a:rPr lang="en-IN" sz="24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at UCLA.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04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6390"/>
          </a:xfrm>
        </p:spPr>
        <p:txBody>
          <a:bodyPr>
            <a:normAutofit fontScale="90000"/>
          </a:bodyPr>
          <a:lstStyle/>
          <a:p>
            <a:r>
              <a:rPr lang="en-US" dirty="0"/>
              <a:t>The Fathers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0500"/>
            <a:ext cx="8915400" cy="51181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Vinton Gray Cerf</a:t>
            </a:r>
            <a:r>
              <a:rPr lang="en-IN" sz="24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(born June 23, 1943) is an American Internet pioneer and is recognized as one of "the fathers of the Internet", sharing this title with TCP/IP co-developer Bob (Robert Elliot Kahn) Kahn (born 23</a:t>
            </a:r>
            <a:r>
              <a:rPr lang="en-IN" sz="2400" b="0" i="0" baseline="3000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IN" sz="24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December 1938).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 2004, Kahn won the Turing Award with </a:t>
            </a:r>
            <a:r>
              <a:rPr lang="en-IN" sz="2400" b="0" i="0" dirty="0" err="1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Vint</a:t>
            </a:r>
            <a:r>
              <a:rPr lang="en-IN" sz="2400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Cerf for their work on TCP/IP.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2000" dirty="0">
              <a:solidFill>
                <a:srgbClr val="474747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80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36390"/>
          </a:xfrm>
        </p:spPr>
        <p:txBody>
          <a:bodyPr>
            <a:normAutofit fontScale="90000"/>
          </a:bodyPr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Birth of the Internet (1970s)</a:t>
            </a:r>
            <a:br>
              <a:rPr lang="en-IN" sz="3600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0500"/>
            <a:ext cx="8915400" cy="51181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* 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Development of TCP/IP: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Key protocols for communication across interconnected networks.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Growth of ARPANET: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Expanding beyond military research to academic and research institutions.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41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3F9F-7366-B04A-BE2B-831E6B30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3990"/>
          </a:xfrm>
        </p:spPr>
        <p:txBody>
          <a:bodyPr>
            <a:normAutofit fontScale="90000"/>
          </a:bodyPr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Rise of the World Wide Web (1980s-1990s)</a:t>
            </a:r>
            <a:br>
              <a:rPr lang="en-IN" sz="36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2594-42F7-494B-8FCE-F7FCA6C2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5900"/>
            <a:ext cx="8915400" cy="4876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* Tim Berners-Lee: Invented the World Wide Web (WWW) at CERN.</a:t>
            </a:r>
            <a:br>
              <a:rPr lang="en-IN" sz="2400" dirty="0"/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* Key Technologies:</a:t>
            </a:r>
            <a:br>
              <a:rPr lang="en-IN" sz="2400" dirty="0"/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  * HTML: </a:t>
            </a:r>
            <a:r>
              <a:rPr lang="en-IN" sz="2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HyperText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Markup Language for creating web pages.</a:t>
            </a:r>
            <a:br>
              <a:rPr lang="en-IN" sz="2400" dirty="0"/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  * HTTP: </a:t>
            </a:r>
            <a:r>
              <a:rPr lang="en-IN" sz="2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HyperText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Transfer Protocol for transferring data on the web.</a:t>
            </a:r>
            <a:br>
              <a:rPr lang="en-IN" sz="2400" dirty="0"/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  * URL: Uniform Resource Locator for addressing web resources.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F7CE-9E65-894F-B458-5B777DA9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61790"/>
          </a:xfrm>
        </p:spPr>
        <p:txBody>
          <a:bodyPr>
            <a:normAutofit fontScale="90000"/>
          </a:bodyPr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Internet Explosion (1990s-Present)</a:t>
            </a:r>
            <a:br>
              <a:rPr lang="en-IN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16726-8BAC-B34D-985D-D13339ED3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01800"/>
            <a:ext cx="8915400" cy="4209422"/>
          </a:xfrm>
        </p:spPr>
        <p:txBody>
          <a:bodyPr>
            <a:normAutofit/>
          </a:bodyPr>
          <a:lstStyle/>
          <a:p>
            <a:pPr marL="0">
              <a:lnSpc>
                <a:spcPct val="120000"/>
              </a:lnSpc>
              <a:spcBef>
                <a:spcPts val="0"/>
              </a:spcBef>
            </a:pPr>
            <a:r>
              <a:rPr lang="en-IN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* 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Rise of the commercial internet: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Availability to the general public.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Explosive growth: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Increased access, faster speeds, and new applications.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Social and economic impact: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Revolutionizing communication, commerce, and information access.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9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200-926B-CC40-8F6C-B3673653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7092942" cy="861790"/>
          </a:xfrm>
        </p:spPr>
        <p:txBody>
          <a:bodyPr>
            <a:normAutofit fontScale="90000"/>
          </a:bodyPr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Infrastructure: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47A9-DBB8-F24B-A5FD-1409F35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7500"/>
            <a:ext cx="8915400" cy="49911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Core Components: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Network Access Points (NAPs): Interconnection points for major networks.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Internet Exchange Points (IXPs): Where Internet Service Providers (ISPs) exchange traffic.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Undersea Cables: Long-distance communication links beneath the ocean.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Data Centres: Facilities housing servers and networking equipment.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83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200-926B-CC40-8F6C-B3673653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Service Providers (ISPs)</a:t>
            </a:r>
            <a:br>
              <a:rPr lang="en-IN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47A9-DBB8-F24B-A5FD-1409F35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3333"/>
            <a:ext cx="8915400" cy="454055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* 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Role of ISPs: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Provide internet access to users.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Connect to the global internet backbone.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Offer various connection speeds (e.g., DSL (telephone lines: </a:t>
            </a:r>
            <a:r>
              <a:rPr lang="en-IN" sz="2400" b="0" i="0" dirty="0">
                <a:solidFill>
                  <a:srgbClr val="545D7E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download speeds of 5 to 35 Mbps and upload speeds of 1 to 10 Mbps)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cable (coaxial cables: download speed of 10 to 500 Mbps and upload speed of 5 to 50 Mbps), </a:t>
            </a:r>
            <a:r>
              <a:rPr lang="en-IN" sz="2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fiber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(fibre optic cables: </a:t>
            </a:r>
            <a:r>
              <a:rPr lang="en-IN" sz="2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upto</a:t>
            </a: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6000 Mbps), Satellite (</a:t>
            </a:r>
            <a:r>
              <a:rPr lang="en-IN" sz="2600" b="0" i="0" dirty="0">
                <a:solidFill>
                  <a:srgbClr val="545D7E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communication satellites to relay data: download speeds of 12 to 100 Mbps and upload speeds of 3 Mbps.</a:t>
            </a:r>
            <a:r>
              <a:rPr lang="en-IN" sz="2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257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6570953" cy="727612"/>
          </a:xfrm>
        </p:spPr>
        <p:txBody>
          <a:bodyPr/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Protocols: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0" y="1647886"/>
            <a:ext cx="8001000" cy="448255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Protocols: Rules and standards that govern how data is transmitted and received.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Key Principles: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Open Standards: Allow for interoperability between different devices and networks.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   * Decentralization: No single entity controls the internet.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800"/>
              </a:spcAft>
            </a:pP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01/06/21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9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200-926B-CC40-8F6C-B3673653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Standards and Authorities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47A9-DBB8-F24B-A5FD-1409F35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84400"/>
            <a:ext cx="8915400" cy="372682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Internet Engineering Task Force (IETF): Develops and promotes internet standards (RFCs).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Internet Corporation for Assigned Names and Numbers (ICANN): Oversees domain names, IP addresses, and other internet identifiers.</a:t>
            </a:r>
            <a:b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* World Wide Web Consortium (W3C): Develops standards for the World Wide Web.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853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200-926B-CC40-8F6C-B3673653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Usage in India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47A9-DBB8-F24B-A5FD-1409F35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3333"/>
            <a:ext cx="8915400" cy="4540557"/>
          </a:xfrm>
        </p:spPr>
        <p:txBody>
          <a:bodyPr/>
          <a:lstStyle/>
          <a:p>
            <a:pPr algn="l"/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Number of subscribers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IN" sz="22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 of March 2024, India had 954.4 million internet subscribers, with 556.05 million in urban areas and 398.35 million in rural areas</a:t>
            </a:r>
          </a:p>
          <a:p>
            <a:pPr algn="l"/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Internet penetration</a:t>
            </a:r>
          </a:p>
          <a:p>
            <a:pPr lvl="1"/>
            <a:r>
              <a:rPr lang="en-IN" sz="22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India's internet penetration is just over 50%, which is below the global average.</a:t>
            </a:r>
          </a:p>
          <a:p>
            <a:pPr algn="l"/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Growth rate</a:t>
            </a:r>
          </a:p>
          <a:p>
            <a:pPr lvl="1"/>
            <a:r>
              <a:rPr lang="en-IN" sz="22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India's internet subscriber base has grown at a compound annual growth rate (CAGR) of 14.26% since March 2014.</a:t>
            </a:r>
          </a:p>
          <a:p>
            <a:endParaRPr lang="en-IN" b="0" i="0" dirty="0">
              <a:effectLst/>
              <a:highlight>
                <a:srgbClr val="FFFFFF"/>
              </a:highlight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373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200-926B-CC40-8F6C-B3673653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2957"/>
          </a:xfrm>
        </p:spPr>
        <p:txBody>
          <a:bodyPr/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Usage in India - 2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47A9-DBB8-F24B-A5FD-1409F35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3333"/>
            <a:ext cx="8915400" cy="4859867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Usage by device</a:t>
            </a:r>
          </a:p>
          <a:p>
            <a:pPr lvl="1"/>
            <a:r>
              <a:rPr lang="en-IN" sz="22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4G is the dominant data technology, accounting for 82.7% of internet usage, while 5G accounts for 16.9%.</a:t>
            </a:r>
          </a:p>
          <a:p>
            <a:pPr algn="l"/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Usage by activity</a:t>
            </a:r>
          </a:p>
          <a:p>
            <a:pPr lvl="1" fontAlgn="ctr"/>
            <a:r>
              <a:rPr lang="en-IN" sz="20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top uses of the internet in India are: </a:t>
            </a:r>
          </a:p>
          <a:p>
            <a:pPr lvl="1" fontAlgn="ctr"/>
            <a:r>
              <a:rPr lang="en-IN" sz="20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en-IN" sz="20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 76% of consumers use the internet for communication. </a:t>
            </a:r>
          </a:p>
          <a:p>
            <a:pPr lvl="1" fontAlgn="ctr"/>
            <a:r>
              <a:rPr lang="en-IN" sz="20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Social media</a:t>
            </a:r>
            <a:r>
              <a:rPr lang="en-IN" sz="20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 70% of people use the internet for social media activities. </a:t>
            </a:r>
          </a:p>
          <a:p>
            <a:pPr lvl="1" fontAlgn="ctr"/>
            <a:r>
              <a:rPr lang="en-IN" sz="20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Online gaming</a:t>
            </a:r>
            <a:r>
              <a:rPr lang="en-IN" sz="20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 53% of internet use is for online gaming. </a:t>
            </a:r>
          </a:p>
          <a:p>
            <a:pPr lvl="1" fontAlgn="ctr"/>
            <a:r>
              <a:rPr lang="en-IN" sz="20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Net commerce</a:t>
            </a:r>
            <a:r>
              <a:rPr lang="en-IN" sz="20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 52% of internet use is for net commerce. </a:t>
            </a:r>
          </a:p>
          <a:p>
            <a:pPr lvl="1"/>
            <a:r>
              <a:rPr lang="en-IN" sz="2000" b="1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Digital payment</a:t>
            </a:r>
            <a:r>
              <a:rPr lang="en-IN" sz="2000" b="0" i="0" dirty="0"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: 45% of internet use is for digital payment.</a:t>
            </a:r>
          </a:p>
          <a:p>
            <a:endParaRPr lang="en-IN" b="0" i="0" dirty="0">
              <a:effectLst/>
              <a:highlight>
                <a:srgbClr val="FFFFFF"/>
              </a:highlight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583651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D200-926B-CC40-8F6C-B36736532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82957"/>
          </a:xfrm>
        </p:spPr>
        <p:txBody>
          <a:bodyPr/>
          <a:lstStyle/>
          <a:p>
            <a:r>
              <a:rPr lang="en-IN" sz="36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Internet Usage in India - 3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C47A9-DBB8-F24B-A5FD-1409F358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3333"/>
            <a:ext cx="8915400" cy="4859867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Usage by region</a:t>
            </a:r>
          </a:p>
          <a:p>
            <a:pPr lvl="1" fontAlgn="ctr">
              <a:buFont typeface="Arial" panose="020B0604020202020204" pitchFamily="34" charset="0"/>
              <a:buChar char="•"/>
            </a:pPr>
            <a:r>
              <a:rPr lang="en-IN" sz="22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More than half of India's active internet users come from rural areas. </a:t>
            </a:r>
          </a:p>
          <a:p>
            <a:pPr algn="l"/>
            <a:r>
              <a:rPr lang="en-IN" sz="24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Usage by device type</a:t>
            </a:r>
          </a:p>
          <a:p>
            <a:pPr lvl="1"/>
            <a:r>
              <a:rPr lang="en-IN" sz="220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Demand for non-traditional devices like smart TVs, smart speakers, and firesticks has grown 58% between 2021 and 2023. </a:t>
            </a:r>
          </a:p>
          <a:p>
            <a:r>
              <a:rPr lang="en-IN" sz="2400" b="0" i="0" dirty="0">
                <a:solidFill>
                  <a:srgbClr val="455F7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 over 900 million internet users, India was the second largest online market in the world, behind China.</a:t>
            </a:r>
            <a:endParaRPr lang="en-IN" sz="2400" b="0" i="0" dirty="0"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5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6E6E-76E8-D84E-B8DE-711C0890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47490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6546-1A34-4242-8F9A-7D27493F2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63700"/>
            <a:ext cx="8915400" cy="4660900"/>
          </a:xfrm>
        </p:spPr>
        <p:txBody>
          <a:bodyPr>
            <a:normAutofit/>
          </a:bodyPr>
          <a:lstStyle/>
          <a:p>
            <a:pPr marL="0">
              <a:lnSpc>
                <a:spcPct val="130000"/>
              </a:lnSpc>
              <a:spcBef>
                <a:spcPts val="0"/>
              </a:spcBef>
            </a:pPr>
            <a:r>
              <a:rPr lang="en-US" sz="2000" dirty="0"/>
              <a:t>What does the future look like?</a:t>
            </a:r>
          </a:p>
          <a:p>
            <a:pPr marL="0">
              <a:lnSpc>
                <a:spcPct val="130000"/>
              </a:lnSpc>
              <a:spcBef>
                <a:spcPts val="0"/>
              </a:spcBef>
            </a:pPr>
            <a:r>
              <a:rPr lang="en-US" sz="2000" dirty="0"/>
              <a:t>New emerging technologies already knocking at our door</a:t>
            </a:r>
          </a:p>
          <a:p>
            <a:pPr marL="0">
              <a:lnSpc>
                <a:spcPct val="130000"/>
              </a:lnSpc>
              <a:spcBef>
                <a:spcPts val="0"/>
              </a:spcBef>
            </a:pPr>
            <a:r>
              <a:rPr lang="en-US" sz="2000" dirty="0"/>
              <a:t>5G, 6G, IoT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83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36D6-21AA-C944-B8B6-7DD855A5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- 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E9F1-4585-5248-B408-706E8D8AE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hlinkClick r:id="rId2"/>
              </a:rPr>
              <a:t>https://www.qualcomm.com/5g/what-is-5g</a:t>
            </a:r>
            <a:endParaRPr lang="en-US" dirty="0"/>
          </a:p>
          <a:p>
            <a:r>
              <a:rPr lang="en-IN" u="sng" dirty="0">
                <a:hlinkClick r:id="rId3"/>
              </a:rPr>
              <a:t>https://www.livemint.com/technology/tech-news/10-technology-trends-that-could-prove-to-be-real-gamechangers-11640020513433.html</a:t>
            </a:r>
            <a:r>
              <a:rPr lang="en-IN" u="sng" dirty="0"/>
              <a:t>, December 2021, </a:t>
            </a:r>
            <a:r>
              <a:rPr lang="en-IN" u="sng" dirty="0" err="1"/>
              <a:t>Prasid</a:t>
            </a:r>
            <a:r>
              <a:rPr lang="en-IN" u="sng" dirty="0"/>
              <a:t> Banerjee</a:t>
            </a:r>
          </a:p>
          <a:p>
            <a:r>
              <a:rPr lang="en-IN" dirty="0"/>
              <a:t>Top 9 New &amp; Trending Technologies in 2022 You Should Know About, Rohit Sharma, June 08, 2021, </a:t>
            </a:r>
            <a:r>
              <a:rPr lang="en-IN" dirty="0">
                <a:hlinkClick r:id="rId4"/>
              </a:rPr>
              <a:t>https://www.upgrad.com/blog/top-new-trending-technologies/</a:t>
            </a:r>
            <a:r>
              <a:rPr lang="en-IN" dirty="0"/>
              <a:t> </a:t>
            </a:r>
          </a:p>
          <a:p>
            <a:r>
              <a:rPr lang="en-IN" dirty="0">
                <a:hlinkClick r:id="rId5"/>
              </a:rPr>
              <a:t>https://www.euromoney.com/learning/blockchain-explained/what-is-blockchain</a:t>
            </a:r>
            <a:endParaRPr lang="en-IN" dirty="0"/>
          </a:p>
          <a:p>
            <a:r>
              <a:rPr lang="en-IN" dirty="0" err="1"/>
              <a:t>Rowayda</a:t>
            </a:r>
            <a:r>
              <a:rPr lang="en-IN" dirty="0"/>
              <a:t> A. </a:t>
            </a:r>
            <a:r>
              <a:rPr lang="en-IN" dirty="0" err="1"/>
              <a:t>Sadek</a:t>
            </a:r>
            <a:r>
              <a:rPr lang="en-IN" dirty="0"/>
              <a:t>, Hybrid energy aware clustered protocol for IoT heterogeneous network, Future Computing and Informatics Journal 3 (2018),  166-177</a:t>
            </a:r>
          </a:p>
          <a:p>
            <a:r>
              <a:rPr lang="en-IN" dirty="0"/>
              <a:t>First quantum computer to pack 100 qubits enters crowded race, </a:t>
            </a:r>
            <a:r>
              <a:rPr lang="en-IN" dirty="0">
                <a:hlinkClick r:id="rId6"/>
              </a:rPr>
              <a:t>https://www.nature.com/articles/d41586-021-03476-5</a:t>
            </a:r>
            <a:r>
              <a:rPr lang="en-IN" dirty="0"/>
              <a:t>, 19 Nov 2021</a:t>
            </a:r>
          </a:p>
          <a:p>
            <a:pPr marL="0" indent="0">
              <a:buNone/>
            </a:pP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817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0C94-1FE1-134F-8798-F0BC53ED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95F9-D7BB-0442-B8D2-0A8E99D3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5400">
                <a:latin typeface="Comic Sans MS" panose="030F0902030302020204" pitchFamily="66" charset="0"/>
              </a:rPr>
              <a:t>Thank you</a:t>
            </a:r>
            <a:endParaRPr lang="en-US" sz="54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3895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12786</TotalTime>
  <Words>1293</Words>
  <Application>Microsoft Macintosh PowerPoint</Application>
  <PresentationFormat>Widescreen</PresentationFormat>
  <Paragraphs>75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Century Gothic</vt:lpstr>
      <vt:lpstr>Comic Sans MS</vt:lpstr>
      <vt:lpstr>Google Sans</vt:lpstr>
      <vt:lpstr>Wingdings</vt:lpstr>
      <vt:lpstr>Wingdings 3</vt:lpstr>
      <vt:lpstr>Wisp</vt:lpstr>
      <vt:lpstr>Introduction</vt:lpstr>
      <vt:lpstr>What is the Internet? </vt:lpstr>
      <vt:lpstr>History</vt:lpstr>
      <vt:lpstr>History Contd. 1  </vt:lpstr>
      <vt:lpstr>History Contd. 2 </vt:lpstr>
      <vt:lpstr>The Fathers </vt:lpstr>
      <vt:lpstr>Birth of the Internet (1970s)  </vt:lpstr>
      <vt:lpstr>The Rise of the World Wide Web (1980s-1990s)   </vt:lpstr>
      <vt:lpstr>The Internet Explosion (1990s-Present) </vt:lpstr>
      <vt:lpstr>Internet Infrastructure: Overview </vt:lpstr>
      <vt:lpstr>Internet Service Providers (ISPs) </vt:lpstr>
      <vt:lpstr>Internet Protocols: Overview</vt:lpstr>
      <vt:lpstr>Internet Standards and Authorities</vt:lpstr>
      <vt:lpstr>Internet Usage in India</vt:lpstr>
      <vt:lpstr>Internet Usage in India - 2</vt:lpstr>
      <vt:lpstr>Internet Usage in India - 3</vt:lpstr>
      <vt:lpstr>Future </vt:lpstr>
      <vt:lpstr>References - Acknowledgement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and features of recent technology</dc:title>
  <dc:creator>Microsoft Office User</dc:creator>
  <cp:lastModifiedBy>Sramistha Neogy</cp:lastModifiedBy>
  <cp:revision>136</cp:revision>
  <dcterms:created xsi:type="dcterms:W3CDTF">2022-02-16T10:07:13Z</dcterms:created>
  <dcterms:modified xsi:type="dcterms:W3CDTF">2025-01-05T13:43:12Z</dcterms:modified>
</cp:coreProperties>
</file>