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3" r:id="rId3"/>
    <p:sldId id="257" r:id="rId4"/>
    <p:sldId id="281" r:id="rId5"/>
    <p:sldId id="258" r:id="rId6"/>
    <p:sldId id="283" r:id="rId7"/>
    <p:sldId id="260" r:id="rId8"/>
    <p:sldId id="28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82" r:id="rId26"/>
    <p:sldId id="280" r:id="rId27"/>
    <p:sldId id="285" r:id="rId28"/>
    <p:sldId id="286" r:id="rId29"/>
    <p:sldId id="287" r:id="rId30"/>
    <p:sldId id="288" r:id="rId31"/>
    <p:sldId id="292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9"/>
    <p:restoredTop sz="94721"/>
  </p:normalViewPr>
  <p:slideViewPr>
    <p:cSldViewPr snapToGrid="0">
      <p:cViewPr varScale="1">
        <p:scale>
          <a:sx n="85" d="100"/>
          <a:sy n="85" d="100"/>
        </p:scale>
        <p:origin x="1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CA39-AAB1-4B8C-F615-B356AFC0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8D2B1-985F-C89F-D893-AF6C87578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2934-5F18-5C45-DAAC-E3C3DFA6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62B6B-1826-4082-4A9F-988B3A03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C7EC-8DC2-E800-567B-55AFA546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5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7DFC-2710-5A05-840C-07B9D16D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1C630-3766-E07F-BA22-3D34660C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7BAC-D7D1-0D86-B3C9-62FE9861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47137-DE0D-113B-568C-E816EF9C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C53E9-8840-53A3-7C40-D9925E8B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2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7423-E322-61F9-3A4B-637FAEF3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ABD7-63BB-58CD-6D61-D68A8016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722A7-0C30-90EF-9FEA-967BC94A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DFE05-FE29-66A1-BF5C-366A484D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4D43F-836B-7FDB-3CFC-FA01CC29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0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FC71-6CF4-A60F-2A0A-BC6853AB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2C224-C25D-322C-5A6D-F1FC1E1FA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73984-8CB7-C5C6-136B-84DD8383A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39A17-5C5F-89B4-64BB-C1B482E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AEE5F-6E47-DC62-2C13-5176C6EE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19416-48CB-81A1-1F98-942F4E0E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0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471B-8EF3-FA39-BF9F-8EBC9DEB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D9C9C-71D0-AD8D-2CE8-3B2EFCF55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0A86-6D37-6AC5-2669-6D8B2CCE9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7E98A-98AF-7913-74FC-73E780C10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4B0FB-144B-4D64-3243-47BF66DC9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931E2-43A9-5F83-2BF9-D68BE247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9B553-0E12-13C0-E013-0D5CBCFC6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E3DC4-A7FE-2489-72B4-ECB0E9C0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7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B422-7EEF-02AF-4EA9-0ACE4BA0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A4470-E07B-3017-A080-97066E49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2D014-5889-4CB4-6849-FC03E2A8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33BB3-609B-0117-9B7C-C138D750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7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125D2-3A66-A0BC-A0C4-8D56156D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574C5-FCB6-E9F1-6E63-2EA427FC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F5526-4AFB-FCE4-AFE3-537CF1C8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7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FF82-CCD6-FF41-C9AC-F7ABBCFD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0268-D3CA-8DBD-EE0A-033D127B6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E8252-40CB-5076-34CF-A21BACB1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56819-E137-3FC2-6342-2091D522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4E130-78BD-2848-5EF7-298C50E2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D1AD9-5A9D-637E-A567-3ABFDC1F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5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97B7-D962-3674-D43B-74B0D220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972A6-962B-1D34-09BC-B564022AC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47A8-216C-C55B-70A1-0443A64A5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FFBDB-3DB7-4F11-DF16-7A46A6D9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3784B-9330-E608-AC95-495963C0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36965-D4CD-C362-268C-6A338F6E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6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0548-3BA7-4390-43D3-C4135B14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7E231-46E6-C606-9C34-0512F2401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7894E-6283-EB48-E6E9-07CB4860E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CFBBB-AB83-8EC6-E57B-1890514E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C681C-FB4F-1749-7138-9C82C3C8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2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6BCAA-008E-BC65-BF11-AF44C235D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C2CAF-74D3-FF7A-C442-72642A79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386A8-6B59-BBED-2770-759CB2ED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989A3-CBDF-9645-7C8D-5D864982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5263-7C68-EDE7-596E-BA26A193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2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3BABF-63A8-FA8E-D4A9-B3033DB7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CB5D4-6C0B-D8A0-7507-43AFBDF3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70D15-7027-2ADF-00E5-60C1C30E6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35C17-56F9-F342-95B8-918334AE9DD6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F350-1AA5-7D62-EB53-8AC86E000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A032-E523-3C09-1611-D64E3F656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BC863-B503-184A-A2A6-A84F37DF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12AC-F9F0-84C0-A3A0-78745F83B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en-US" dirty="0"/>
              <a:t>IPv6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8DF7C-2DFC-219B-4307-5830C2871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68022"/>
          </a:xfrm>
        </p:spPr>
        <p:txBody>
          <a:bodyPr>
            <a:normAutofit/>
          </a:bodyPr>
          <a:lstStyle/>
          <a:p>
            <a:r>
              <a:rPr lang="en-US" sz="3200" dirty="0" err="1"/>
              <a:t>Sarmistha</a:t>
            </a:r>
            <a:r>
              <a:rPr lang="en-US" sz="3200" dirty="0"/>
              <a:t> </a:t>
            </a:r>
            <a:r>
              <a:rPr lang="en-US" sz="3200" dirty="0" err="1"/>
              <a:t>Neogy</a:t>
            </a:r>
            <a:endParaRPr lang="en-US" sz="3200" dirty="0"/>
          </a:p>
          <a:p>
            <a:r>
              <a:rPr lang="en-US" dirty="0"/>
              <a:t>Professor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Jadavpur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5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C413-1E8A-8E8F-AEA8-87832115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IPv6?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61C9-FA2E-EC1B-DB7C-A9067A06B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IPv6 is the newest version of internet protocol formulated by the IETF, which </a:t>
            </a:r>
            <a:r>
              <a:rPr lang="en-IN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helps identify and local endpoint systems on a computer network and route online traffic while addressing the problem of IPv4 address depletion due to prolonged internet use worldwide</a:t>
            </a:r>
            <a:r>
              <a:rPr lang="en-IN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5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3518-7F0A-7169-9C48-8BD6B6E2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Pv6 Addresses&#10;An Internet Protocol version 6 address&#10;(IPv6 address) is a numerical label that is used&#10;to identify a network interface of a computer or&#10;other network node participating in an IPv6&#10;computer network.&#10; ">
            <a:extLst>
              <a:ext uri="{FF2B5EF4-FFF2-40B4-BE49-F238E27FC236}">
                <a16:creationId xmlns:a16="http://schemas.microsoft.com/office/drawing/2014/main" id="{438A05CD-FDC7-D0DA-87B8-6519264D8C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03" y="1905000"/>
            <a:ext cx="7472218" cy="431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08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0047-74DB-FF50-A636-6D32235F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FEATURES&#10;•Larger Address Space&#10;•No Broadcast&#10;•Anycast Support&#10;•Mobility&#10;•Extensibility&#10; ">
            <a:extLst>
              <a:ext uri="{FF2B5EF4-FFF2-40B4-BE49-F238E27FC236}">
                <a16:creationId xmlns:a16="http://schemas.microsoft.com/office/drawing/2014/main" id="{A1399E69-E069-D4D7-B8AE-E9C166C63B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933" y="2252133"/>
            <a:ext cx="5384800" cy="424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84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47F9-7F2A-2A74-1C36-DB4B5615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tructure&#10;An IPv6 address consists of 16 bytes&#10;(octets); it is 128 bits long&#10;Hexadecimal Colon Notation&#10;More readable&#10;128 bit is divided into 8 sections ,each bytes in length&#10;2 bytes in hexadecimal notation requires 4 hexadecimal digits&#10;Address consists of 32 hexadecimal digits&#10;Every 4 digits separated by a colon&#10; ">
            <a:extLst>
              <a:ext uri="{FF2B5EF4-FFF2-40B4-BE49-F238E27FC236}">
                <a16:creationId xmlns:a16="http://schemas.microsoft.com/office/drawing/2014/main" id="{A4EFDC1A-1DE0-B5DA-F703-528BB2348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67" y="2159000"/>
            <a:ext cx="7230533" cy="4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54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8984-DBD2-3767-D6D7-4033F4B8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IPv6: Binary and Hexadecimal notations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67BDC70-CC72-BD91-2D80-AF286EF314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81719"/>
            <a:ext cx="10515600" cy="416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66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6276-279D-E2DA-8B5A-E2FC1589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Abbreviation&#10;•Hexadecimal format is very long.&#10;•Many of the digits are zeros.&#10;•Leading zeros of a section can be omitted.&#10;•Only leading zeros can be dropped ,not the&#10;trailing zeros.&#10; ">
            <a:extLst>
              <a:ext uri="{FF2B5EF4-FFF2-40B4-BE49-F238E27FC236}">
                <a16:creationId xmlns:a16="http://schemas.microsoft.com/office/drawing/2014/main" id="{E252D4BD-A56A-4097-A712-A63FB0D01E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067" y="2167467"/>
            <a:ext cx="4080933" cy="328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93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5C35-CAFE-5A3D-6F5F-D07FC3ED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747"/>
          </a:xfrm>
        </p:spPr>
        <p:txBody>
          <a:bodyPr/>
          <a:lstStyle/>
          <a:p>
            <a:r>
              <a:rPr lang="en-US" dirty="0"/>
              <a:t>Abbreviation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4F0859A-BFFC-4A18-733D-486DA40117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247" y="1825625"/>
            <a:ext cx="9872196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95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A7D8-F353-6CC1-D604-F5435BD0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IPv6 has a much larger address space .&#10;The designers of IPv6 divided the&#10;address into several categories.&#10;A few leftmost bits, called the type&#10;prefix in each address define its category&#10;Address Space&#10; ">
            <a:extLst>
              <a:ext uri="{FF2B5EF4-FFF2-40B4-BE49-F238E27FC236}">
                <a16:creationId xmlns:a16="http://schemas.microsoft.com/office/drawing/2014/main" id="{ACA00DF1-D9D3-7E0F-4C3B-F85F4AC804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370667"/>
            <a:ext cx="5638800" cy="372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6AE0-EC0C-971B-0DBD-8E464D35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Type prefixes for IPv6 addresses&#10; ">
            <a:extLst>
              <a:ext uri="{FF2B5EF4-FFF2-40B4-BE49-F238E27FC236}">
                <a16:creationId xmlns:a16="http://schemas.microsoft.com/office/drawing/2014/main" id="{6C2ED207-DAC2-4122-9B7C-B73C6E2AE7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33" y="2065867"/>
            <a:ext cx="6248400" cy="442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864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D2D4-F092-3BF8-F2D2-CA854DB9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Type prefixes for IPv6 addresses(continued)&#10; ">
            <a:extLst>
              <a:ext uri="{FF2B5EF4-FFF2-40B4-BE49-F238E27FC236}">
                <a16:creationId xmlns:a16="http://schemas.microsoft.com/office/drawing/2014/main" id="{ACA3A4A5-513E-86EB-BC47-DB755AD5DB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533" y="1811867"/>
            <a:ext cx="6942667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95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B581-B607-968D-59D8-811E1F22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Types of IPv6 address&#10;-Unicast Addresses&#10;-Multicast Addresses&#10;-Anycast Addresses&#10; ">
            <a:extLst>
              <a:ext uri="{FF2B5EF4-FFF2-40B4-BE49-F238E27FC236}">
                <a16:creationId xmlns:a16="http://schemas.microsoft.com/office/drawing/2014/main" id="{38958289-EA28-5043-4FDB-992653E8FC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67" y="2421467"/>
            <a:ext cx="5300133" cy="42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81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FA4C-535F-313A-F5FD-ACBBC807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Unicast Addresses&#10;A unicast address defines a single computer.&#10;The packet sent to a unicast address must be&#10;delivered to that specific computer.&#10;IPv6 defines two types of unicast address:&#10;Geo-graphically based&#10;Provider-based&#10; ">
            <a:extLst>
              <a:ext uri="{FF2B5EF4-FFF2-40B4-BE49-F238E27FC236}">
                <a16:creationId xmlns:a16="http://schemas.microsoft.com/office/drawing/2014/main" id="{CC1726E7-FFB2-64D9-180A-FC6CC8BA80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067" y="2031999"/>
            <a:ext cx="5825066" cy="382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01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73A9-E3A1-4A4C-F69A-7EEA1B66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Unicast address&#10; ">
            <a:extLst>
              <a:ext uri="{FF2B5EF4-FFF2-40B4-BE49-F238E27FC236}">
                <a16:creationId xmlns:a16="http://schemas.microsoft.com/office/drawing/2014/main" id="{BD94F38D-39D5-C3AE-7133-4052958982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67" y="1947333"/>
            <a:ext cx="519853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936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B460-87E3-3DDE-2ECA-32072E45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The provider-based address is generally used&#10;by a normal host as a unicast address.&#10;Prefixes for provider-based unicast address&#10; ">
            <a:extLst>
              <a:ext uri="{FF2B5EF4-FFF2-40B4-BE49-F238E27FC236}">
                <a16:creationId xmlns:a16="http://schemas.microsoft.com/office/drawing/2014/main" id="{41976BDF-9557-1D7F-E945-903016391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998133"/>
            <a:ext cx="5875867" cy="449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508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76BD-5C24-4AE1-D32A-DC2C408E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Fields for the provider based are as&#10;follows:&#10;Type identifier:-&#10;3 bit field&#10;Address as the provider based address&#10;Registry identifier:-&#10;5 bit field&#10;3 registry centers : INTERNIC ,RIPNIC&#10;,APNIC&#10;Provider identifier:-&#10;16 bit field&#10; ">
            <a:extLst>
              <a:ext uri="{FF2B5EF4-FFF2-40B4-BE49-F238E27FC236}">
                <a16:creationId xmlns:a16="http://schemas.microsoft.com/office/drawing/2014/main" id="{59693FF5-99C3-8765-CA74-CF9E155A48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33" y="1947333"/>
            <a:ext cx="4064000" cy="442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55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F45A-9C0E-369B-6472-C9906617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(Continued….)&#10;Subscriber identifier:-&#10;24 bit field&#10;when organization subscribes to the&#10;internet through a provider ,it is assigned.&#10;Subnet identifier:-&#10;32 bit field&#10;Defines a specific subnetwork under the&#10;territory of the subscriber.&#10;Node identifier:-&#10;48 bit field&#10;Defines the identity of the node&#10;connected to a subnet&#10; ">
            <a:extLst>
              <a:ext uri="{FF2B5EF4-FFF2-40B4-BE49-F238E27FC236}">
                <a16:creationId xmlns:a16="http://schemas.microsoft.com/office/drawing/2014/main" id="{809E4259-485D-4A44-49C5-75F21176F1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333" y="1811867"/>
            <a:ext cx="4910667" cy="414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13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FDB3-AF3F-BFF2-FBE1-FE155114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Multicast Addresses&#10;Used to define a group of hosts instead of just&#10;one.&#10;Multicast address&#10; ">
            <a:extLst>
              <a:ext uri="{FF2B5EF4-FFF2-40B4-BE49-F238E27FC236}">
                <a16:creationId xmlns:a16="http://schemas.microsoft.com/office/drawing/2014/main" id="{CD026B19-C621-CBF7-8A53-216FA557AA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200" y="2099733"/>
            <a:ext cx="4622800" cy="364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167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832-EB60-3D20-E7EE-504A937B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MULTICAST ADDRESS IN IPV6&#10; ">
            <a:extLst>
              <a:ext uri="{FF2B5EF4-FFF2-40B4-BE49-F238E27FC236}">
                <a16:creationId xmlns:a16="http://schemas.microsoft.com/office/drawing/2014/main" id="{98235FEF-FE56-E59F-2B2D-151F13E48A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133" y="1811867"/>
            <a:ext cx="5130800" cy="435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193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8197-D421-D6A6-BD46-B965EAAD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A packet sent to a multicast address must be&#10;delivered to each member of the group.&#10;Second field is a flag that defines the group&#10;address , either permanent or transient.&#10;A permenent group address is defined by the&#10;Internet authorities and can be accessed at all&#10;times.&#10;A transient group address, on the other hand is&#10;used only temporarily.&#10; ">
            <a:extLst>
              <a:ext uri="{FF2B5EF4-FFF2-40B4-BE49-F238E27FC236}">
                <a16:creationId xmlns:a16="http://schemas.microsoft.com/office/drawing/2014/main" id="{3B2D0159-EC5A-6244-488D-A25CBAA26F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267" y="1964267"/>
            <a:ext cx="5503333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085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6F74-CCA3-6EC6-C815-F9C4FB88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Anycast Addresses&#10;Address is delivered to only one of the members&#10;of the anycast group,the nearest one .&#10;One possible use is to assign an anycast address&#10;to all routers of an ISP that covers a large logical&#10;area in the internet.&#10;The router outside the ISP deliver a packet&#10;destined for the ISP to the nearest ISP router.&#10;No block is assigned for anycast addresses.&#10; ">
            <a:extLst>
              <a:ext uri="{FF2B5EF4-FFF2-40B4-BE49-F238E27FC236}">
                <a16:creationId xmlns:a16="http://schemas.microsoft.com/office/drawing/2014/main" id="{DFC1138C-6A77-D238-A966-3621A04BBF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2116667"/>
            <a:ext cx="5181600" cy="394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822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9455-4459-EA91-3244-06A6D0E7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Anycast address&#10; ">
            <a:extLst>
              <a:ext uri="{FF2B5EF4-FFF2-40B4-BE49-F238E27FC236}">
                <a16:creationId xmlns:a16="http://schemas.microsoft.com/office/drawing/2014/main" id="{5F549B57-9F01-E3EF-7C16-547BC2E3B8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399" y="2387599"/>
            <a:ext cx="6316133" cy="379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5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8579-B967-75C9-B28F-CB231277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Reserved Addresses&#10;• It start with eight 0s (type prefix is 0000 0000).&#10;Reserved addresses in IPv6&#10; ">
            <a:extLst>
              <a:ext uri="{FF2B5EF4-FFF2-40B4-BE49-F238E27FC236}">
                <a16:creationId xmlns:a16="http://schemas.microsoft.com/office/drawing/2014/main" id="{8728D932-9C56-B65E-80CB-0265A5FA2A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9" y="1947332"/>
            <a:ext cx="5215467" cy="440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16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D82D-F7AF-5203-E825-FE53B6F7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 An Unspecified address is used when a host&#10;does not know its own address and sends an&#10;inquiry to finds its address.&#10; A Loopback address is used by a host to test&#10;itself without going into network.&#10;A Compatible address is used during the&#10;transition from IPv4 to IPv6.&#10;A Mapped address is also used during the&#10;transition.&#10; ">
            <a:extLst>
              <a:ext uri="{FF2B5EF4-FFF2-40B4-BE49-F238E27FC236}">
                <a16:creationId xmlns:a16="http://schemas.microsoft.com/office/drawing/2014/main" id="{5FCF71B6-8A44-7A60-97B6-07FB096B37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048934"/>
            <a:ext cx="5875867" cy="444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032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38FB-69B3-3406-1E09-8FCDE7DA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 descr="Local Addresses&#10;It is used when an organization wants to use&#10;IPv6 protocol without being connected to the&#10;global Internet.&#10;They provide addressing for private network.&#10; ">
            <a:extLst>
              <a:ext uri="{FF2B5EF4-FFF2-40B4-BE49-F238E27FC236}">
                <a16:creationId xmlns:a16="http://schemas.microsoft.com/office/drawing/2014/main" id="{2A734916-0E8D-72FF-253F-143BE7024A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533" y="1828800"/>
            <a:ext cx="4605867" cy="370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973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2D14-004B-CB9F-2C61-0AE2ED4A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Local addresses in IPv6&#10;A link local address is used in an isolated subnet.&#10;A site local address is used in an isolated site with&#10;several subnet.&#10; ">
            <a:extLst>
              <a:ext uri="{FF2B5EF4-FFF2-40B4-BE49-F238E27FC236}">
                <a16:creationId xmlns:a16="http://schemas.microsoft.com/office/drawing/2014/main" id="{921CD29D-E8CF-2FE4-5E72-99C7E06D03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267" y="1998133"/>
            <a:ext cx="5063066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611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3D0C-584B-5E74-01E3-78E676AD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/>
              <a:t>IPv4 vs IPv6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1665EC-2C07-2B37-60EA-305D360035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148329"/>
              </p:ext>
            </p:extLst>
          </p:nvPr>
        </p:nvGraphicFramePr>
        <p:xfrm>
          <a:off x="838199" y="1361872"/>
          <a:ext cx="10329154" cy="622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4577">
                  <a:extLst>
                    <a:ext uri="{9D8B030D-6E8A-4147-A177-3AD203B41FA5}">
                      <a16:colId xmlns:a16="http://schemas.microsoft.com/office/drawing/2014/main" val="3810133554"/>
                    </a:ext>
                  </a:extLst>
                </a:gridCol>
                <a:gridCol w="5164577">
                  <a:extLst>
                    <a:ext uri="{9D8B030D-6E8A-4147-A177-3AD203B41FA5}">
                      <a16:colId xmlns:a16="http://schemas.microsoft.com/office/drawing/2014/main" val="451169365"/>
                    </a:ext>
                  </a:extLst>
                </a:gridCol>
              </a:tblGrid>
              <a:tr h="390033">
                <a:tc>
                  <a:txBody>
                    <a:bodyPr/>
                    <a:lstStyle/>
                    <a:p>
                      <a:r>
                        <a:rPr lang="en-US" dirty="0"/>
                        <a:t>IPv4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78321"/>
                  </a:ext>
                </a:extLst>
              </a:tr>
              <a:tr h="390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Length – 32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Length - 128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949702"/>
                  </a:ext>
                </a:extLst>
              </a:tr>
              <a:tr h="390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Internet address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 applicable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52408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Multicast addresses (224.0.0.0/4)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Multicast addresses 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(FF00::/8)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310767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Broadcast addresses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 applicable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232891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Unspecified address is 0.0.0.0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Unspecified address is ::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448713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Loopback address is 127.0.0.1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Loopback address is ::1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777699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IP addresses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Global unicast addresses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21481"/>
                  </a:ext>
                </a:extLst>
              </a:tr>
              <a:tr h="8635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IP addresses (10.0.0.0/8, 172.16.0.0/12, and 192.168.0.0/16)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Site-local addresses (FEC0::/10)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083106"/>
                  </a:ext>
                </a:extLst>
              </a:tr>
              <a:tr h="60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Autoconfigured addresses (169.254.0.0/16)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Link-local addresses (FE80::/64)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879582"/>
                  </a:ext>
                </a:extLst>
              </a:tr>
              <a:tr h="3900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16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459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DAD8-3A77-25A2-91B1-CCA2B293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5DA80F-C423-4E22-7147-664AE1DBB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65125"/>
            <a:ext cx="9940047" cy="612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1452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CEC3-C9F7-ABDC-7E42-9346E88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 Header</a:t>
            </a:r>
          </a:p>
        </p:txBody>
      </p:sp>
      <p:pic>
        <p:nvPicPr>
          <p:cNvPr id="4" name="Picture 5" descr="FIG19">
            <a:extLst>
              <a:ext uri="{FF2B5EF4-FFF2-40B4-BE49-F238E27FC236}">
                <a16:creationId xmlns:a16="http://schemas.microsoft.com/office/drawing/2014/main" id="{8EDDE7F8-5019-652E-1C94-A9BD1A3BA6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9" y="1945532"/>
            <a:ext cx="6998105" cy="4396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748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CA7E-58E8-C7A4-E96B-9E010A5D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en-US" dirty="0"/>
              <a:t>Header Fields:IPv6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3EE6-121C-FDF6-26EA-64F7FF23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5092091"/>
          </a:xfrm>
        </p:spPr>
        <p:txBody>
          <a:bodyPr/>
          <a:lstStyle/>
          <a:p>
            <a:pPr marL="457200" indent="-457200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RFC 2460 defines the following IPv6 header fields:</a:t>
            </a:r>
          </a:p>
          <a:p>
            <a:pPr marL="457200" indent="-457200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Version (4 bits)</a:t>
            </a:r>
          </a:p>
          <a:p>
            <a:pPr marL="1257300" lvl="2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 bits are used to indicate the version of IP and is set to 6 </a:t>
            </a:r>
          </a:p>
          <a:p>
            <a:pPr marL="342900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Traffic Class (8 bits)</a:t>
            </a:r>
          </a:p>
          <a:p>
            <a:pPr marL="1257300" lvl="2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same function as the Type of Service field in the IPv4 header. </a:t>
            </a:r>
          </a:p>
          <a:p>
            <a:pPr marL="342900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Flow Label (20 bits)</a:t>
            </a:r>
          </a:p>
          <a:p>
            <a:pPr marL="1257300" lvl="2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identifies a flow and it is intended to enable the router to identify packets that should be treated in a similar way without the need for deep lookups within those packets. </a:t>
            </a:r>
          </a:p>
          <a:p>
            <a:pPr marL="1257300" lvl="2" indent="-563563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 by the source and should not be changed by routers along the path to destination.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99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CA7E-58E8-C7A4-E96B-9E010A5D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en-US" dirty="0"/>
              <a:t>Traffic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3EE6-121C-FDF6-26EA-64F7FF23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5092091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38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Traffic Class field in an IPv6 header identifies the priority or class of an IPv6 packet. It is similar to the Type of Service (</a:t>
            </a:r>
            <a:r>
              <a:rPr lang="en-IN" sz="3800" b="0" i="0" dirty="0" err="1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ToS</a:t>
            </a:r>
            <a:r>
              <a:rPr lang="en-IN" sz="38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field in an IPv4 packet. It is an 8-bit field in the IPv6 header. </a:t>
            </a:r>
          </a:p>
          <a:p>
            <a:pPr fontAlgn="ctr">
              <a:lnSpc>
                <a:spcPct val="130000"/>
              </a:lnSpc>
              <a:spcBef>
                <a:spcPts val="0"/>
              </a:spcBef>
            </a:pPr>
            <a:r>
              <a:rPr lang="en-IN" sz="3800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How </a:t>
            </a:r>
            <a:r>
              <a:rPr lang="en-IN" sz="4000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 is it used?</a:t>
            </a:r>
            <a:endParaRPr lang="en-IN" sz="3800" dirty="0">
              <a:solidFill>
                <a:srgbClr val="001D35"/>
              </a:solidFill>
              <a:highlight>
                <a:srgbClr val="FFFFFF"/>
              </a:highlight>
              <a:latin typeface="Google Sans"/>
            </a:endParaRPr>
          </a:p>
          <a:p>
            <a:pPr lvl="1" fontAlgn="ctr">
              <a:lnSpc>
                <a:spcPct val="130000"/>
              </a:lnSpc>
              <a:spcBef>
                <a:spcPts val="0"/>
              </a:spcBef>
            </a:pPr>
            <a:r>
              <a:rPr lang="en-IN" sz="3400" dirty="0">
                <a:solidFill>
                  <a:srgbClr val="001D3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field is used by originating nodes and forwarding routers to identify and distinguish between different classes or priorities of IPv6 packets. 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IN" sz="3400" dirty="0">
                <a:solidFill>
                  <a:srgbClr val="001D3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field helps routers handle traffic based on the packet's priority. If congestion occurs on the router, packets with the least priority will be discarded.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 lvl="1" fontAlgn="ctr">
              <a:lnSpc>
                <a:spcPct val="130000"/>
              </a:lnSpc>
              <a:spcBef>
                <a:spcPts val="0"/>
              </a:spcBef>
            </a:pPr>
            <a:r>
              <a:rPr lang="en-IN" sz="38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Traffic Class field can be used to set specific precedence or differentiated services code point (DSCP) values. 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br>
              <a:rPr lang="en-IN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03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28F9-511A-6727-3F23-80C91621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203"/>
          </a:xfrm>
        </p:spPr>
        <p:txBody>
          <a:bodyPr/>
          <a:lstStyle/>
          <a:p>
            <a:r>
              <a:rPr lang="en-US" dirty="0"/>
              <a:t>Header Fields:IPv6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96B8-2AF1-1B7B-E6E1-13F90A3C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702"/>
            <a:ext cx="10515600" cy="4839173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Payload Length (16 bits)</a:t>
            </a:r>
          </a:p>
          <a:p>
            <a:pPr marL="839788" lvl="1" indent="-495300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With the header length fixed at 40 bytes, it is enough to indicate the length of the payload to determine the length of the entire packet.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Next Header (8 bits)</a:t>
            </a:r>
          </a:p>
          <a:p>
            <a:pPr marL="839788" lvl="1" indent="-495300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Indicates either the first extension header (if present) or the protocol in the upper layer PDU (such as TCP, UDP, or ICMPv6). </a:t>
            </a:r>
            <a:endParaRPr lang="en-AU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Hop Limit (8 bits)</a:t>
            </a:r>
          </a:p>
          <a:p>
            <a:pPr marL="687388" lvl="1" indent="-342900" algn="just">
              <a:lnSpc>
                <a:spcPct val="114000"/>
              </a:lnSpc>
              <a:spcBef>
                <a:spcPts val="0"/>
              </a:spcBef>
            </a:pPr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In IPv6, the IPv4 TTL was appropriately renamed Hop Limit because it is a variable that is decremented at each hop, and it does not have a temporal dimension.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98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6C7E-395C-72F9-1D75-54F6634F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3479"/>
          </a:xfrm>
        </p:spPr>
        <p:txBody>
          <a:bodyPr/>
          <a:lstStyle/>
          <a:p>
            <a:r>
              <a:rPr lang="en-US" dirty="0"/>
              <a:t>Header Fields:IPv6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413D-BE31-6049-E8CD-3D98E3EAE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Source IPv6 Address (128 bits)</a:t>
            </a:r>
          </a:p>
          <a:p>
            <a:pPr marL="839788" lvl="1" indent="-495300">
              <a:buFontTx/>
              <a:buChar char="•"/>
            </a:pPr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Stores the IPv6 address of the originating host. </a:t>
            </a:r>
          </a:p>
          <a:p>
            <a:r>
              <a:rPr lang="en-AU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Destination IPv6 Address (128 bits)</a:t>
            </a:r>
          </a:p>
          <a:p>
            <a:pPr marL="839788" lvl="1" indent="-495300"/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Stores the IPv6 address of the current destination host.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51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3811-75B3-A5D3-F0CB-9B5F52E20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292"/>
          </a:xfrm>
        </p:spPr>
        <p:txBody>
          <a:bodyPr/>
          <a:lstStyle/>
          <a:p>
            <a:r>
              <a:rPr lang="en-US" dirty="0"/>
              <a:t>Next Header field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C7C38D-6B36-D832-592C-77CAE1262F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621" y="1690687"/>
            <a:ext cx="7607030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17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547</Words>
  <Application>Microsoft Macintosh PowerPoint</Application>
  <PresentationFormat>Widescreen</PresentationFormat>
  <Paragraphs>61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Google Sans</vt:lpstr>
      <vt:lpstr>Office Theme</vt:lpstr>
      <vt:lpstr>IPv6</vt:lpstr>
      <vt:lpstr>What is IPv6?</vt:lpstr>
      <vt:lpstr>PowerPoint Presentation</vt:lpstr>
      <vt:lpstr>PowerPoint Presentation</vt:lpstr>
      <vt:lpstr>PowerPoint Presentation</vt:lpstr>
      <vt:lpstr>IPv6: Binary and Hexadecimal notations</vt:lpstr>
      <vt:lpstr>PowerPoint Presentation</vt:lpstr>
      <vt:lpstr>Abbreviation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IPv4 vs IPv6</vt:lpstr>
      <vt:lpstr>PowerPoint Presentation</vt:lpstr>
      <vt:lpstr>IPv6 Header</vt:lpstr>
      <vt:lpstr>Header Fields:IPv6</vt:lpstr>
      <vt:lpstr>Traffic Class</vt:lpstr>
      <vt:lpstr>Header Fields:IPv6 (contd.)</vt:lpstr>
      <vt:lpstr>Header Fields:IPv6 (contd.)</vt:lpstr>
      <vt:lpstr>Next Header field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Sramistha Neogy</dc:creator>
  <cp:lastModifiedBy>Sramistha Neogy</cp:lastModifiedBy>
  <cp:revision>16</cp:revision>
  <dcterms:created xsi:type="dcterms:W3CDTF">2025-01-08T17:12:09Z</dcterms:created>
  <dcterms:modified xsi:type="dcterms:W3CDTF">2025-01-21T08:31:44Z</dcterms:modified>
</cp:coreProperties>
</file>